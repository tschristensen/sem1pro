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9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smtClean="0"/>
              <a:t>Klik for at redigere undertiteltypografien i masteren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E2900-2D67-4578-B6FB-EC4A52E6091C}" type="datetimeFigureOut">
              <a:rPr lang="da-DK" smtClean="0"/>
              <a:pPr/>
              <a:t>25-04-2016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20558-178D-40C1-B44C-05C3FC7E043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Disposition to calculation of </a:t>
            </a:r>
            <a:r>
              <a:rPr lang="en-US" u="sng" dirty="0" smtClean="0"/>
              <a:t>IRFP4468PbF </a:t>
            </a:r>
            <a:endParaRPr lang="en-US" u="sng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Redefining of MOSFET current</a:t>
            </a:r>
          </a:p>
          <a:p>
            <a:r>
              <a:rPr lang="en-US" dirty="0" smtClean="0"/>
              <a:t>MOSFET power loss in max current</a:t>
            </a:r>
          </a:p>
          <a:p>
            <a:pPr lvl="1"/>
            <a:r>
              <a:rPr lang="en-US" dirty="0" smtClean="0"/>
              <a:t>Conduction </a:t>
            </a:r>
            <a:r>
              <a:rPr lang="en-US" dirty="0" smtClean="0"/>
              <a:t>loss</a:t>
            </a:r>
          </a:p>
          <a:p>
            <a:pPr lvl="1"/>
            <a:r>
              <a:rPr lang="en-US" dirty="0" smtClean="0"/>
              <a:t>Switching </a:t>
            </a:r>
            <a:r>
              <a:rPr lang="en-US" dirty="0" smtClean="0"/>
              <a:t>loss (Assumption)</a:t>
            </a:r>
          </a:p>
          <a:p>
            <a:pPr lvl="1"/>
            <a:r>
              <a:rPr lang="en-US" dirty="0" smtClean="0"/>
              <a:t>Temperature </a:t>
            </a:r>
          </a:p>
          <a:p>
            <a:pPr lvl="2"/>
            <a:r>
              <a:rPr lang="en-US" dirty="0" smtClean="0"/>
              <a:t>Thermal capacitor of heat sink</a:t>
            </a:r>
          </a:p>
          <a:p>
            <a:r>
              <a:rPr lang="en-US" dirty="0" smtClean="0"/>
              <a:t>Max speed power loss </a:t>
            </a:r>
          </a:p>
          <a:p>
            <a:r>
              <a:rPr lang="en-US" dirty="0" smtClean="0"/>
              <a:t>Nominal temperature</a:t>
            </a:r>
          </a:p>
          <a:p>
            <a:r>
              <a:rPr lang="en-US" dirty="0" smtClean="0"/>
              <a:t>Max temperature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MOSFET minimum rating</a:t>
            </a:r>
            <a:endParaRPr lang="en-US" dirty="0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1400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67536" y="1484784"/>
            <a:ext cx="4176464" cy="3895358"/>
          </a:xfrm>
          <a:prstGeom prst="rect">
            <a:avLst/>
          </a:prstGeom>
        </p:spPr>
      </p:pic>
      <p:graphicFrame>
        <p:nvGraphicFramePr>
          <p:cNvPr id="11" name="Tabel 10"/>
          <p:cNvGraphicFramePr>
            <a:graphicFrameLocks noGrp="1"/>
          </p:cNvGraphicFramePr>
          <p:nvPr/>
        </p:nvGraphicFramePr>
        <p:xfrm>
          <a:off x="323528" y="4221088"/>
          <a:ext cx="4699000" cy="234696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1" i="0" u="sng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Current</a:t>
                      </a:r>
                      <a:r>
                        <a:rPr lang="da-DK" sz="1400" b="1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to the Motor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Sinus peak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RMS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212,1320344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A,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MOSFET max rating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Drain current in two MOSFET combined, RMS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A,RMS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Drain current in one MOSFET, RMS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A,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Peak current in MOSFET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Vbat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52,8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Vds max rating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556792"/>
            <a:ext cx="4392488" cy="23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Conduction loss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1772816"/>
            <a:ext cx="29241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539552" y="1988840"/>
          <a:ext cx="4699000" cy="128016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Conduction loss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Tempurtur junction (Tj)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Rds(on) faktor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1,644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t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Rds(on) Typ.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2,00E-03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Ω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Rds(on)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3,29E-03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Ω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Pcon,Loss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18,497</a:t>
                      </a:r>
                      <a:endParaRPr lang="da-DK" sz="1400" b="1" i="0" u="sng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el 8"/>
          <p:cNvGraphicFramePr>
            <a:graphicFrameLocks noGrp="1"/>
          </p:cNvGraphicFramePr>
          <p:nvPr/>
        </p:nvGraphicFramePr>
        <p:xfrm>
          <a:off x="539552" y="3501008"/>
          <a:ext cx="4699000" cy="21336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Drain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current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in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one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MOSFET, RMS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A,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27784" y="4077072"/>
            <a:ext cx="1009650" cy="314325"/>
          </a:xfrm>
          <a:prstGeom prst="rect">
            <a:avLst/>
          </a:prstGeom>
          <a:noFill/>
        </p:spPr>
      </p:pic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771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loss – </a:t>
            </a:r>
            <a:br>
              <a:rPr lang="en-US" dirty="0" smtClean="0"/>
            </a:br>
            <a:r>
              <a:rPr lang="en-US" dirty="0" smtClean="0"/>
              <a:t>Defining the on and off time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Based on </a:t>
            </a:r>
            <a:r>
              <a:rPr lang="en-US" b="1" dirty="0" smtClean="0"/>
              <a:t>assumptions</a:t>
            </a:r>
          </a:p>
          <a:p>
            <a:r>
              <a:rPr lang="en-US" dirty="0" smtClean="0"/>
              <a:t>What is need to be defined?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068960"/>
            <a:ext cx="8135504" cy="336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loss – </a:t>
            </a:r>
            <a:br>
              <a:rPr lang="en-US" dirty="0" smtClean="0"/>
            </a:br>
            <a:r>
              <a:rPr lang="en-US" dirty="0" smtClean="0"/>
              <a:t>Defining the on and off time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Rise and fall time of </a:t>
            </a:r>
            <a:r>
              <a:rPr lang="en-US" dirty="0" err="1" smtClean="0"/>
              <a:t>Vds</a:t>
            </a:r>
            <a:endParaRPr lang="en-US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2492896"/>
            <a:ext cx="3466949" cy="1916314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45140"/>
          <a:stretch>
            <a:fillRect/>
          </a:stretch>
        </p:blipFill>
        <p:spPr bwMode="auto">
          <a:xfrm>
            <a:off x="4499992" y="2204864"/>
            <a:ext cx="3240360" cy="244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085184"/>
            <a:ext cx="900271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loss – </a:t>
            </a:r>
            <a:br>
              <a:rPr lang="en-US" dirty="0" smtClean="0"/>
            </a:br>
            <a:r>
              <a:rPr lang="en-US" dirty="0" smtClean="0"/>
              <a:t>Defining the on and off time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fall time of the Id current</a:t>
            </a:r>
          </a:p>
          <a:p>
            <a:r>
              <a:rPr lang="en-US" sz="2400" dirty="0" smtClean="0"/>
              <a:t>Assuming </a:t>
            </a:r>
            <a:r>
              <a:rPr lang="en-US" sz="2400" dirty="0" smtClean="0"/>
              <a:t>that </a:t>
            </a:r>
            <a:r>
              <a:rPr lang="en-US" sz="2400" dirty="0" err="1" smtClean="0"/>
              <a:t>Cgs</a:t>
            </a:r>
            <a:r>
              <a:rPr lang="en-US" sz="2400" dirty="0" smtClean="0"/>
              <a:t> is the same for on and off time. And it is </a:t>
            </a:r>
            <a:r>
              <a:rPr lang="en-US" sz="2400" dirty="0" err="1" smtClean="0"/>
              <a:t>equeal</a:t>
            </a:r>
            <a:r>
              <a:rPr lang="en-US" sz="2400" dirty="0" smtClean="0"/>
              <a:t> to </a:t>
            </a:r>
            <a:r>
              <a:rPr lang="en-US" sz="2400" dirty="0" err="1" smtClean="0"/>
              <a:t>Ciss</a:t>
            </a:r>
            <a:r>
              <a:rPr lang="en-US" sz="2400" dirty="0" smtClean="0"/>
              <a:t> at 50V</a:t>
            </a:r>
            <a:endParaRPr lang="en-US" sz="2400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429000"/>
            <a:ext cx="3235374" cy="2924614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4149080"/>
            <a:ext cx="2777299" cy="1910607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graphicFrame>
        <p:nvGraphicFramePr>
          <p:cNvPr id="6" name="Tabel 5"/>
          <p:cNvGraphicFramePr>
            <a:graphicFrameLocks noGrp="1"/>
          </p:cNvGraphicFramePr>
          <p:nvPr/>
        </p:nvGraphicFramePr>
        <p:xfrm>
          <a:off x="6156176" y="4365104"/>
          <a:ext cx="2730500" cy="371475"/>
        </p:xfrm>
        <a:graphic>
          <a:graphicData uri="http://schemas.openxmlformats.org/drawingml/2006/table">
            <a:tbl>
              <a:tblPr/>
              <a:tblGrid>
                <a:gridCol w="901700"/>
                <a:gridCol w="1219200"/>
                <a:gridCol w="609600"/>
              </a:tblGrid>
              <a:tr h="371475">
                <a:tc>
                  <a:txBody>
                    <a:bodyPr/>
                    <a:lstStyle/>
                    <a:p>
                      <a:pPr algn="l" fontAlgn="b"/>
                      <a:r>
                        <a:rPr lang="da-DK" sz="22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Cgs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2200" b="1" i="0" u="sng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2,00E-08</a:t>
                      </a:r>
                      <a:endParaRPr lang="da-DK" sz="2200" b="1" i="0" u="sng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2200" b="1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 l="45140"/>
          <a:stretch>
            <a:fillRect/>
          </a:stretch>
        </p:blipFill>
        <p:spPr bwMode="auto">
          <a:xfrm>
            <a:off x="5364088" y="1628800"/>
            <a:ext cx="2736304" cy="2062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12160" y="5661248"/>
            <a:ext cx="2649071" cy="561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loss – </a:t>
            </a:r>
            <a:br>
              <a:rPr lang="en-US" dirty="0" smtClean="0"/>
            </a:br>
            <a:r>
              <a:rPr lang="en-US" dirty="0" smtClean="0"/>
              <a:t>Defining the on and off time</a:t>
            </a:r>
            <a:endParaRPr lang="en-US" dirty="0"/>
          </a:p>
        </p:txBody>
      </p:sp>
      <p:sp>
        <p:nvSpPr>
          <p:cNvPr id="9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err="1" smtClean="0"/>
              <a:t>Vgs</a:t>
            </a:r>
            <a:r>
              <a:rPr lang="en-US" sz="2400" dirty="0" smtClean="0"/>
              <a:t> voltage that makes Id=150A and </a:t>
            </a:r>
            <a:r>
              <a:rPr lang="en-US" sz="2400" dirty="0" err="1" smtClean="0"/>
              <a:t>Vds</a:t>
            </a:r>
            <a:r>
              <a:rPr lang="en-US" sz="2400" dirty="0" smtClean="0"/>
              <a:t>=52V</a:t>
            </a:r>
            <a:endParaRPr lang="en-US" sz="24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2060848"/>
            <a:ext cx="44291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 r="56630"/>
          <a:stretch>
            <a:fillRect/>
          </a:stretch>
        </p:blipFill>
        <p:spPr bwMode="auto">
          <a:xfrm>
            <a:off x="467544" y="2420888"/>
            <a:ext cx="3528392" cy="336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loss – </a:t>
            </a:r>
            <a:br>
              <a:rPr lang="en-US" dirty="0" smtClean="0"/>
            </a:br>
            <a:r>
              <a:rPr lang="en-US" dirty="0" smtClean="0"/>
              <a:t>Finding the off loss</a:t>
            </a:r>
            <a:endParaRPr lang="en-US" dirty="0"/>
          </a:p>
        </p:txBody>
      </p:sp>
      <p:sp>
        <p:nvSpPr>
          <p:cNvPr id="9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Fsw</a:t>
            </a:r>
            <a:r>
              <a:rPr lang="en-US" sz="2400" dirty="0" smtClean="0"/>
              <a:t> = 20kHz</a:t>
            </a:r>
            <a:endParaRPr lang="en-US" sz="2400" dirty="0"/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2420888"/>
            <a:ext cx="5701926" cy="2705478"/>
          </a:xfrm>
          <a:prstGeom prst="rect">
            <a:avLst/>
          </a:prstGeom>
        </p:spPr>
      </p:pic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4208" y="5877272"/>
            <a:ext cx="1314450" cy="552450"/>
          </a:xfrm>
          <a:prstGeom prst="rect">
            <a:avLst/>
          </a:prstGeom>
          <a:noFill/>
        </p:spPr>
      </p:pic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Tabel 15"/>
          <p:cNvGraphicFramePr>
            <a:graphicFrameLocks noGrp="1"/>
          </p:cNvGraphicFramePr>
          <p:nvPr/>
        </p:nvGraphicFramePr>
        <p:xfrm>
          <a:off x="6228184" y="2492896"/>
          <a:ext cx="2730500" cy="1813560"/>
        </p:xfrm>
        <a:graphic>
          <a:graphicData uri="http://schemas.openxmlformats.org/drawingml/2006/table">
            <a:tbl>
              <a:tblPr/>
              <a:tblGrid>
                <a:gridCol w="901700"/>
                <a:gridCol w="1219200"/>
                <a:gridCol w="609600"/>
              </a:tblGrid>
              <a:tr h="5334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 gate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off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Vgs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Io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4,56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Vg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th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tfi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4,452E-08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Time 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3,045E-07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Poff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loss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24,12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4208" y="4581128"/>
            <a:ext cx="2355262" cy="563656"/>
          </a:xfrm>
          <a:prstGeom prst="rect">
            <a:avLst/>
          </a:prstGeom>
          <a:noFill/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56176" y="1772816"/>
            <a:ext cx="2649071" cy="561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loss – </a:t>
            </a:r>
            <a:br>
              <a:rPr lang="en-US" dirty="0" smtClean="0"/>
            </a:br>
            <a:r>
              <a:rPr lang="en-US" dirty="0" smtClean="0"/>
              <a:t>Finding the on loss</a:t>
            </a:r>
            <a:endParaRPr lang="en-US" dirty="0"/>
          </a:p>
        </p:txBody>
      </p:sp>
      <p:graphicFrame>
        <p:nvGraphicFramePr>
          <p:cNvPr id="15" name="Pladsholder til indhold 14"/>
          <p:cNvGraphicFramePr>
            <a:graphicFrameLocks noGrp="1"/>
          </p:cNvGraphicFramePr>
          <p:nvPr>
            <p:ph idx="1"/>
          </p:nvPr>
        </p:nvGraphicFramePr>
        <p:xfrm>
          <a:off x="6012160" y="2492896"/>
          <a:ext cx="2730500" cy="1813560"/>
        </p:xfrm>
        <a:graphic>
          <a:graphicData uri="http://schemas.openxmlformats.org/drawingml/2006/table">
            <a:tbl>
              <a:tblPr/>
              <a:tblGrid>
                <a:gridCol w="901700"/>
                <a:gridCol w="1219200"/>
                <a:gridCol w="609600"/>
              </a:tblGrid>
              <a:tr h="5334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 gate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off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Vgs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Io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4,56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Vg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th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tri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8,024E-08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Time 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3,10E-07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Poff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loss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24,571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4208" y="4581128"/>
            <a:ext cx="2355262" cy="563656"/>
          </a:xfrm>
          <a:prstGeom prst="rect">
            <a:avLst/>
          </a:prstGeom>
          <a:noFill/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56176" y="1772816"/>
            <a:ext cx="2649071" cy="561975"/>
          </a:xfrm>
          <a:prstGeom prst="rect">
            <a:avLst/>
          </a:prstGeom>
          <a:noFill/>
        </p:spPr>
      </p:pic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32240" y="5589240"/>
            <a:ext cx="1314450" cy="552450"/>
          </a:xfrm>
          <a:prstGeom prst="rect">
            <a:avLst/>
          </a:prstGeom>
          <a:noFill/>
        </p:spPr>
      </p:pic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Billede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9512" y="3140968"/>
            <a:ext cx="5692520" cy="2610214"/>
          </a:xfrm>
          <a:prstGeom prst="rect">
            <a:avLst/>
          </a:prstGeom>
        </p:spPr>
      </p:pic>
      <p:sp>
        <p:nvSpPr>
          <p:cNvPr id="19" name="Pladsholder til indhold 2"/>
          <p:cNvSpPr txBox="1">
            <a:spLocks/>
          </p:cNvSpPr>
          <p:nvPr/>
        </p:nvSpPr>
        <p:spPr>
          <a:xfrm>
            <a:off x="457200" y="1600200"/>
            <a:ext cx="4978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Fsw = 20kHz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loss in one MOSFET</a:t>
            </a:r>
            <a:endParaRPr lang="en-US" dirty="0"/>
          </a:p>
        </p:txBody>
      </p:sp>
      <p:graphicFrame>
        <p:nvGraphicFramePr>
          <p:cNvPr id="6" name="Pladsholder til indhold 5"/>
          <p:cNvGraphicFramePr>
            <a:graphicFrameLocks noGrp="1"/>
          </p:cNvGraphicFramePr>
          <p:nvPr>
            <p:ph idx="1"/>
          </p:nvPr>
        </p:nvGraphicFramePr>
        <p:xfrm>
          <a:off x="2123728" y="1916832"/>
          <a:ext cx="4699000" cy="362712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sng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Conduction loss</a:t>
                      </a:r>
                      <a:endParaRPr lang="en-US" sz="1400" b="1" i="0" u="sng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Tempurtur junction (Tj)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Rds(on) faktor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1,644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Rds(on) Typ.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2,00E-03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Ω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Rds(on)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3,29E-03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Ω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Pcon,Loss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sng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18,497</a:t>
                      </a:r>
                      <a:endParaRPr lang="en-US" sz="1400" b="1" i="0" u="sng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endParaRPr lang="en-US" sz="1400" b="1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sng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Switching loss</a:t>
                      </a:r>
                      <a:endParaRPr lang="en-US" sz="1400" b="1" i="0" u="sng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Switching frequence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20000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Hz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Total sw loss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sng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48,689</a:t>
                      </a:r>
                      <a:endParaRPr lang="en-US" sz="1400" b="1" i="0" u="sng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endParaRPr lang="en-US" sz="1400" b="1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sng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1" i="0" u="sng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1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Total Loss in one MOSFET</a:t>
                      </a:r>
                      <a:endParaRPr lang="en-US" sz="1400" b="1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P loss, total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sng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67,186</a:t>
                      </a:r>
                      <a:endParaRPr lang="en-US" sz="1400" b="1" i="0" u="sng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Thermal</a:t>
            </a:r>
            <a:r>
              <a:rPr lang="da-DK" dirty="0" smtClean="0"/>
              <a:t> </a:t>
            </a:r>
            <a:r>
              <a:rPr lang="da-DK" dirty="0" err="1" smtClean="0"/>
              <a:t>capacitor</a:t>
            </a:r>
            <a:r>
              <a:rPr lang="da-DK" dirty="0" smtClean="0"/>
              <a:t> of heat sink</a:t>
            </a:r>
            <a:endParaRPr lang="da-DK" dirty="0"/>
          </a:p>
        </p:txBody>
      </p:sp>
      <p:graphicFrame>
        <p:nvGraphicFramePr>
          <p:cNvPr id="5" name="Pladsholder til indhold 4"/>
          <p:cNvGraphicFramePr>
            <a:graphicFrameLocks noGrp="1"/>
          </p:cNvGraphicFramePr>
          <p:nvPr>
            <p:ph idx="1"/>
          </p:nvPr>
        </p:nvGraphicFramePr>
        <p:xfrm>
          <a:off x="251520" y="1556792"/>
          <a:ext cx="4699000" cy="256032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Thermal</a:t>
                      </a:r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capacitor</a:t>
                      </a:r>
                      <a:endParaRPr lang="da-DK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Area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8,75E-04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m^2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Length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8,40E-02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Volume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7,35E-05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m^3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Correction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factor of the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volume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Real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volume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3,68E-05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m^3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Density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Kg/m^3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Mass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0,099225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alu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J/(°C*kg)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Thermal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capacitor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(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Cs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89,3025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J/°C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484784"/>
            <a:ext cx="3312368" cy="2492189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99592" y="4581128"/>
            <a:ext cx="2951527" cy="598157"/>
          </a:xfrm>
          <a:prstGeom prst="rect">
            <a:avLst/>
          </a:prstGeom>
          <a:noFill/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76056" y="4077072"/>
            <a:ext cx="3687535" cy="21564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Max </a:t>
            </a:r>
            <a:r>
              <a:rPr lang="da-DK" dirty="0" err="1" smtClean="0"/>
              <a:t>current</a:t>
            </a:r>
            <a:r>
              <a:rPr lang="da-DK" dirty="0" smtClean="0"/>
              <a:t> step – 5s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5 </a:t>
            </a:r>
            <a:r>
              <a:rPr lang="en-US" dirty="0" smtClean="0"/>
              <a:t>seconds is </a:t>
            </a:r>
            <a:r>
              <a:rPr lang="en-US" dirty="0" smtClean="0"/>
              <a:t>from other calculations</a:t>
            </a:r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2276872"/>
            <a:ext cx="5599958" cy="1905000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4221088"/>
            <a:ext cx="4004642" cy="1521980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graphicFrame>
        <p:nvGraphicFramePr>
          <p:cNvPr id="7" name="Tabel 6"/>
          <p:cNvGraphicFramePr>
            <a:graphicFrameLocks noGrp="1"/>
          </p:cNvGraphicFramePr>
          <p:nvPr/>
        </p:nvGraphicFramePr>
        <p:xfrm>
          <a:off x="251520" y="4797152"/>
          <a:ext cx="4699000" cy="149352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Tempurtur</a:t>
                      </a:r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MOSFET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Ta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Time for max power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number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of MOSFET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heat sink (n)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Ts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28,720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44,844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Tj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64,328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Current</a:t>
            </a:r>
            <a:r>
              <a:rPr lang="da-DK" dirty="0" smtClean="0"/>
              <a:t> in max speed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3682752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Only </a:t>
            </a:r>
            <a:r>
              <a:rPr lang="en-US" sz="2400" dirty="0" smtClean="0"/>
              <a:t>wind resistance acts as load</a:t>
            </a:r>
            <a:endParaRPr lang="en-US" sz="2400" dirty="0"/>
          </a:p>
        </p:txBody>
      </p:sp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5484" y="3501008"/>
            <a:ext cx="4398516" cy="1053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1268760"/>
            <a:ext cx="2664296" cy="2258708"/>
          </a:xfrm>
          <a:prstGeom prst="rect">
            <a:avLst/>
          </a:prstGeom>
          <a:noFill/>
        </p:spPr>
      </p:pic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395536" y="2420888"/>
          <a:ext cx="3822700" cy="4267200"/>
        </p:xfrm>
        <a:graphic>
          <a:graphicData uri="http://schemas.openxmlformats.org/drawingml/2006/table">
            <a:tbl>
              <a:tblPr/>
              <a:tblGrid>
                <a:gridCol w="26035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Area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of air drag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m^2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dimension number (C)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Air density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1,3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kg/m^2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Max speed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km/t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Max speed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13,89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m/s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Air drag force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60,49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Torque on wheel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Gear ratio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Torque from motor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2,03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Torque phas peak current rario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Max torque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Max phas peak current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 peak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0,12667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Nm/A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Phase current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Peak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16,01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 peak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RMS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current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11,32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Max speed power </a:t>
            </a:r>
            <a:r>
              <a:rPr lang="da-DK" dirty="0" err="1" smtClean="0"/>
              <a:t>loss</a:t>
            </a:r>
            <a:endParaRPr lang="da-DK" dirty="0"/>
          </a:p>
        </p:txBody>
      </p:sp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2051720" y="1628800"/>
          <a:ext cx="4699000" cy="4269105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from continuously 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From phase RMS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11,321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in the two MOSFET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8,005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Current in one MOSFET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4,003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 RMS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Conduction loss from continuously 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Pcon, 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0,052682095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Switching loss from continuously 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Because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it is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too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difficult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to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calculate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the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Switching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loss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in max speed, it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will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asumed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that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the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loss</a:t>
                      </a:r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is 5W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Psw, 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Loss in one MOSFET from 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 loss, 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5,052682095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temperature</a:t>
            </a:r>
            <a:endParaRPr lang="en-US" dirty="0"/>
          </a:p>
        </p:txBody>
      </p:sp>
      <p:graphicFrame>
        <p:nvGraphicFramePr>
          <p:cNvPr id="4" name="Pladsholder til indhold 3"/>
          <p:cNvGraphicFramePr>
            <a:graphicFrameLocks noGrp="1"/>
          </p:cNvGraphicFramePr>
          <p:nvPr>
            <p:ph idx="1"/>
          </p:nvPr>
        </p:nvGraphicFramePr>
        <p:xfrm>
          <a:off x="251520" y="1556792"/>
          <a:ext cx="4699000" cy="341376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Norminal</a:t>
                      </a:r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power </a:t>
                      </a:r>
                      <a:r>
                        <a:rPr lang="da-DK" sz="14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loss</a:t>
                      </a:r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in </a:t>
                      </a:r>
                      <a:r>
                        <a:rPr lang="da-DK" sz="14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one</a:t>
                      </a:r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MOSFET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Procent Time there is: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Max current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33,33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Max speed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33,33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Down accelaration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33,34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 down accelaration there is no power loss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The norminal power loss is therefore;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24,07710456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Tempurtur due to norminal power loss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85,19276141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90,9712665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Tj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97,95362683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4293096"/>
            <a:ext cx="26670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132856"/>
            <a:ext cx="3600400" cy="1246063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 temperature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system</a:t>
            </a:r>
            <a:endParaRPr lang="en-US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158" y="1556792"/>
            <a:ext cx="4411842" cy="3312368"/>
          </a:xfrm>
          <a:prstGeom prst="rect">
            <a:avLst/>
          </a:prstGeom>
        </p:spPr>
      </p:pic>
      <p:pic>
        <p:nvPicPr>
          <p:cNvPr id="5" name="Picture 6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08920"/>
            <a:ext cx="4676775" cy="2590800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 </a:t>
            </a:r>
            <a:r>
              <a:rPr lang="en-US" dirty="0" err="1" smtClean="0"/>
              <a:t>tempurtur</a:t>
            </a:r>
            <a:endParaRPr lang="en-US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95344" y="2132856"/>
            <a:ext cx="3548656" cy="2664296"/>
          </a:xfrm>
          <a:prstGeom prst="rect">
            <a:avLst/>
          </a:prstGeom>
        </p:spPr>
      </p:pic>
      <p:graphicFrame>
        <p:nvGraphicFramePr>
          <p:cNvPr id="7" name="Tabel 6"/>
          <p:cNvGraphicFramePr>
            <a:graphicFrameLocks noGrp="1"/>
          </p:cNvGraphicFramePr>
          <p:nvPr/>
        </p:nvGraphicFramePr>
        <p:xfrm>
          <a:off x="323528" y="1772816"/>
          <a:ext cx="4699000" cy="3524250"/>
        </p:xfrm>
        <a:graphic>
          <a:graphicData uri="http://schemas.openxmlformats.org/drawingml/2006/table">
            <a:tbl>
              <a:tblPr/>
              <a:tblGrid>
                <a:gridCol w="2882900"/>
                <a:gridCol w="990600"/>
                <a:gridCol w="825500"/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Tempurtur MOSFET delta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Delta power </a:t>
                      </a:r>
                      <a:r>
                        <a:rPr lang="da-DK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loss</a:t>
                      </a:r>
                      <a:endParaRPr lang="da-DK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43,109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0,961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11,307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Tj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4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23,809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da-DK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da-DK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Tempurtur in one MOSFET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da-DK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8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86,154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da-DK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8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102,2785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da-DK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Tj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a-DK" sz="1800" b="1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121,7624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680</Words>
  <Application>Microsoft Office PowerPoint</Application>
  <PresentationFormat>Skærmshow (4:3)</PresentationFormat>
  <Paragraphs>366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17</vt:i4>
      </vt:variant>
    </vt:vector>
  </HeadingPairs>
  <TitlesOfParts>
    <vt:vector size="18" baseType="lpstr">
      <vt:lpstr>Kontortema</vt:lpstr>
      <vt:lpstr>Disposition to calculation of IRFP4468PbF </vt:lpstr>
      <vt:lpstr>MOSFET minimum rating</vt:lpstr>
      <vt:lpstr>Conduction loss</vt:lpstr>
      <vt:lpstr>Switching loss –  Defining the on and off time</vt:lpstr>
      <vt:lpstr>Switching loss –  Defining the on and off time</vt:lpstr>
      <vt:lpstr>Switching loss –  Defining the on and off time</vt:lpstr>
      <vt:lpstr>Switching loss –  Defining the on and off time</vt:lpstr>
      <vt:lpstr>Switching loss –  Finding the off loss</vt:lpstr>
      <vt:lpstr>Switching loss –  Finding the on loss</vt:lpstr>
      <vt:lpstr>Total loss in one MOSFET</vt:lpstr>
      <vt:lpstr>Thermal capacitor of heat sink</vt:lpstr>
      <vt:lpstr>Max current step – 5s</vt:lpstr>
      <vt:lpstr>Current in max speed</vt:lpstr>
      <vt:lpstr>Max speed power loss</vt:lpstr>
      <vt:lpstr>Nominal temperature</vt:lpstr>
      <vt:lpstr>Max temperature</vt:lpstr>
      <vt:lpstr>Max tempurtur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MOSFET minimum rating</dc:title>
  <dc:creator>Christian Østergaard</dc:creator>
  <cp:lastModifiedBy>Christian Østergaard</cp:lastModifiedBy>
  <cp:revision>34</cp:revision>
  <dcterms:created xsi:type="dcterms:W3CDTF">2016-04-18T22:36:00Z</dcterms:created>
  <dcterms:modified xsi:type="dcterms:W3CDTF">2016-04-25T22:32:32Z</dcterms:modified>
</cp:coreProperties>
</file>